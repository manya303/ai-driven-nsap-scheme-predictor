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2" r:id="rId2"/>
    <p:sldId id="293" r:id="rId3"/>
    <p:sldId id="294" r:id="rId4"/>
    <p:sldId id="295" r:id="rId5"/>
    <p:sldId id="278" r:id="rId6"/>
    <p:sldId id="279" r:id="rId7"/>
    <p:sldId id="296" r:id="rId8"/>
    <p:sldId id="297" r:id="rId9"/>
    <p:sldId id="262" r:id="rId10"/>
    <p:sldId id="290" r:id="rId11"/>
    <p:sldId id="291" r:id="rId12"/>
    <p:sldId id="298" r:id="rId13"/>
    <p:sldId id="299" r:id="rId14"/>
    <p:sldId id="300" r:id="rId15"/>
    <p:sldId id="286" r:id="rId16"/>
    <p:sldId id="287" r:id="rId17"/>
    <p:sldId id="280" r:id="rId18"/>
    <p:sldId id="288"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1301" y="-4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-2147483648-2147483648 16383 0 0,'0'0'0'0'0,"0"0"0"0"0,0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71320955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manyamishra303@gmail.com"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MANYA303/AI-Driven-NSAP-Scheme-Predictor"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70.png"/></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r>
              <a:rPr lang="en-US" b="1"/>
              <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lvl="0" algn="ctr"/>
            <a:r>
              <a:rPr lang="en-US" b="1" i="1" dirty="0" smtClean="0"/>
              <a:t>“</a:t>
            </a:r>
            <a:r>
              <a:rPr lang="en-US" dirty="0"/>
              <a:t>AI-Driven NSAP Scheme Predictor using IBM Watson Machine Learning</a:t>
            </a:r>
            <a:r>
              <a:rPr lang="en-US" b="1" i="1" dirty="0" smtClean="0"/>
              <a:t>”</a:t>
            </a:r>
            <a:endParaRPr dirty="0"/>
          </a:p>
        </p:txBody>
      </p:sp>
    </p:spTree>
    <p:extLst>
      <p:ext uri="{BB962C8B-B14F-4D97-AF65-F5344CB8AC3E}">
        <p14:creationId xmlns:p14="http://schemas.microsoft.com/office/powerpoint/2010/main" val="2038444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3324081931"/>
              </p:ext>
            </p:extLst>
          </p:nvPr>
        </p:nvGraphicFramePr>
        <p:xfrm>
          <a:off x="1299257" y="2600315"/>
          <a:ext cx="9395000" cy="2167125"/>
        </p:xfrm>
        <a:graphic>
          <a:graphicData uri="http://schemas.openxmlformats.org/drawingml/2006/table">
            <a:tbl>
              <a:tblPr>
                <a:noFill/>
              </a:tblPr>
              <a:tblGrid>
                <a:gridCol w="2064875"/>
                <a:gridCol w="2443375"/>
                <a:gridCol w="2443375"/>
                <a:gridCol w="2443375"/>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Mobile number</a:t>
                      </a:r>
                      <a:endParaRPr sz="1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a:t>
                      </a:r>
                      <a:r>
                        <a:rPr lang="en-US" sz="1800" b="0" i="0" u="none" strike="noStrike" cap="none" dirty="0" err="1">
                          <a:solidFill>
                            <a:srgbClr val="000000"/>
                          </a:solidFill>
                          <a:latin typeface="Arial"/>
                          <a:ea typeface="Arial"/>
                          <a:cs typeface="Arial"/>
                          <a:sym typeface="Arial"/>
                        </a:rPr>
                        <a:t>WhatsApp</a:t>
                      </a:r>
                      <a:r>
                        <a:rPr lang="en-US" sz="1800" b="0" i="0" u="none" strike="noStrike" cap="none" dirty="0">
                          <a:solidFill>
                            <a:srgbClr val="000000"/>
                          </a:solidFill>
                          <a:latin typeface="Arial"/>
                          <a:ea typeface="Arial"/>
                          <a:cs typeface="Arial"/>
                          <a:sym typeface="Arial"/>
                        </a:rPr>
                        <a:t>] </a:t>
                      </a:r>
                      <a:endParaRPr sz="18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dirty="0" smtClean="0"/>
                        <a:t>MANYA MISHRA</a:t>
                      </a:r>
                      <a:endParaRPr sz="1400" b="1"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sng" strike="noStrike" cap="none" dirty="0" smtClean="0">
                          <a:hlinkClick r:id="rId3"/>
                        </a:rPr>
                        <a:t>manyamishra303@gmail.com</a:t>
                      </a:r>
                      <a:endParaRPr sz="1400" b="1" u="sng"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smtClean="0"/>
                        <a:t>8318063102</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pic>
        <p:nvPicPr>
          <p:cNvPr id="87" name="Google Shape;87;p2"/>
          <p:cNvPicPr preferRelativeResize="0"/>
          <p:nvPr/>
        </p:nvPicPr>
        <p:blipFill>
          <a:blip r:embed="rId4">
            <a:extLst>
              <a:ext uri="{28A0092B-C50C-407E-A947-70E740481C1C}">
                <a14:useLocalDpi xmlns:a14="http://schemas.microsoft.com/office/drawing/2010/main" val="0"/>
              </a:ext>
            </a:extLst>
          </a:blip>
          <a:stretch>
            <a:fillRect/>
          </a:stretch>
        </p:blipFill>
        <p:spPr>
          <a:xfrm>
            <a:off x="4183463" y="3738418"/>
            <a:ext cx="832417" cy="786568"/>
          </a:xfrm>
          <a:prstGeom prst="rect">
            <a:avLst/>
          </a:prstGeom>
          <a:noFill/>
          <a:ln>
            <a:noFill/>
          </a:ln>
        </p:spPr>
      </p:pic>
      <p:sp>
        <p:nvSpPr>
          <p:cNvPr id="88" name="Google Shape;88;p2"/>
          <p:cNvSpPr txBox="1"/>
          <p:nvPr/>
        </p:nvSpPr>
        <p:spPr>
          <a:xfrm>
            <a:off x="1206164" y="1460724"/>
            <a:ext cx="10280254" cy="461624"/>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Domain of  Project – </a:t>
            </a:r>
            <a:r>
              <a:rPr lang="en-US" sz="2400" b="1" dirty="0"/>
              <a:t>Government Welfare </a:t>
            </a:r>
            <a:r>
              <a:rPr lang="en-US" sz="2400" b="1" dirty="0" smtClean="0"/>
              <a:t>and </a:t>
            </a:r>
            <a:r>
              <a:rPr lang="en-US" sz="2400" b="1" dirty="0"/>
              <a:t>Social Security </a:t>
            </a:r>
            <a:endParaRPr sz="2400" b="1" i="0" u="none" strike="noStrike" cap="none" dirty="0">
              <a:solidFill>
                <a:srgbClr val="000000"/>
              </a:solidFill>
              <a:highlight>
                <a:srgbClr val="FFFF00"/>
              </a:highlight>
              <a:sym typeface="Arial"/>
            </a:endParaRPr>
          </a:p>
        </p:txBody>
      </p:sp>
      <p:sp>
        <p:nvSpPr>
          <p:cNvPr id="89" name="Google Shape;89;p2"/>
          <p:cNvSpPr txBox="1"/>
          <p:nvPr/>
        </p:nvSpPr>
        <p:spPr>
          <a:xfrm>
            <a:off x="1206162" y="551965"/>
            <a:ext cx="9581177" cy="830956"/>
          </a:xfrm>
          <a:prstGeom prst="rect">
            <a:avLst/>
          </a:prstGeom>
          <a:solidFill>
            <a:schemeClr val="bg1"/>
          </a:solidFill>
          <a:ln>
            <a:solidFill>
              <a:schemeClr val="bg1"/>
            </a:solidFill>
          </a:ln>
        </p:spPr>
        <p:txBody>
          <a:bodyPr spcFirstLastPara="1" wrap="square" lIns="91425" tIns="45700" rIns="91425" bIns="45700" anchor="t" anchorCtr="0">
            <a:spAutoFit/>
          </a:bodyPr>
          <a:lstStyle/>
          <a:p>
            <a:r>
              <a:rPr lang="en-US" sz="2400" b="1" i="0" u="none" strike="noStrike" cap="none" dirty="0">
                <a:solidFill>
                  <a:srgbClr val="000000"/>
                </a:solidFill>
                <a:latin typeface="Arial"/>
                <a:ea typeface="Arial"/>
                <a:cs typeface="Arial"/>
                <a:sym typeface="Arial"/>
              </a:rPr>
              <a:t>Project Tile </a:t>
            </a:r>
            <a:r>
              <a:rPr lang="en-US" sz="2400" b="1" i="0" u="none" strike="noStrike" cap="none" dirty="0" smtClean="0">
                <a:solidFill>
                  <a:srgbClr val="000000"/>
                </a:solidFill>
                <a:latin typeface="Arial"/>
                <a:ea typeface="Arial"/>
                <a:cs typeface="Arial"/>
                <a:sym typeface="Arial"/>
              </a:rPr>
              <a:t>– </a:t>
            </a:r>
            <a:r>
              <a:rPr lang="en-US" sz="2400" b="1" dirty="0"/>
              <a:t>AI-Driven NSAP Scheme Predictor using IBM Watson Machine Learning</a:t>
            </a:r>
            <a:endParaRPr sz="2400" b="1" dirty="0">
              <a:solidFill>
                <a:schemeClr val="tx1"/>
              </a:solidFill>
              <a:highlight>
                <a:srgbClr val="FFFF00"/>
              </a:highlight>
            </a:endParaRPr>
          </a:p>
        </p:txBody>
      </p:sp>
    </p:spTree>
    <p:extLst>
      <p:ext uri="{BB962C8B-B14F-4D97-AF65-F5344CB8AC3E}">
        <p14:creationId xmlns:p14="http://schemas.microsoft.com/office/powerpoint/2010/main" val="654099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939991"/>
            <a:ext cx="10607040" cy="6124713"/>
          </a:xfrm>
          <a:prstGeom prst="rect">
            <a:avLst/>
          </a:prstGeom>
          <a:noFill/>
          <a:ln>
            <a:noFill/>
          </a:ln>
        </p:spPr>
        <p:txBody>
          <a:bodyPr spcFirstLastPara="1" wrap="square" lIns="91425" tIns="45700" rIns="91425" bIns="45700" anchor="t" anchorCtr="0">
            <a:spAutoFit/>
          </a:bodyPr>
          <a:lstStyle/>
          <a:p>
            <a:pPr lvl="0"/>
            <a:r>
              <a:rPr lang="en-US" sz="1400" b="1" i="0" u="none" strike="noStrike" cap="none" dirty="0">
                <a:solidFill>
                  <a:srgbClr val="000000"/>
                </a:solidFill>
                <a:latin typeface="Arial"/>
                <a:ea typeface="Arial"/>
                <a:cs typeface="Arial"/>
                <a:sym typeface="Arial"/>
              </a:rPr>
              <a:t>Problem Statement : </a:t>
            </a:r>
            <a:r>
              <a:rPr lang="en-IN" b="1" dirty="0"/>
              <a:t>AI-Driven NSAP Scheme </a:t>
            </a:r>
            <a:r>
              <a:rPr lang="en-IN" b="1" dirty="0" smtClean="0"/>
              <a:t>Predictor</a:t>
            </a:r>
          </a:p>
          <a:p>
            <a:pPr lvl="0"/>
            <a:endParaRPr sz="1400" b="1" i="0" u="none" strike="noStrike" cap="none" dirty="0">
              <a:solidFill>
                <a:srgbClr val="000000"/>
              </a:solidFill>
              <a:sym typeface="Arial"/>
            </a:endParaRPr>
          </a:p>
          <a:p>
            <a:pPr marL="0" marR="0" lvl="0" indent="0" algn="l" rtl="0">
              <a:lnSpc>
                <a:spcPct val="100000"/>
              </a:lnSpc>
              <a:spcBef>
                <a:spcPts val="0"/>
              </a:spcBef>
              <a:spcAft>
                <a:spcPts val="0"/>
              </a:spcAft>
              <a:buNone/>
            </a:pPr>
            <a:r>
              <a:rPr lang="en-US" sz="1400" b="1" i="0" u="none" strike="noStrike" cap="none" dirty="0" smtClean="0">
                <a:solidFill>
                  <a:srgbClr val="000000"/>
                </a:solidFill>
                <a:latin typeface="Arial"/>
                <a:ea typeface="Arial"/>
                <a:cs typeface="Arial"/>
                <a:sym typeface="Arial"/>
              </a:rPr>
              <a:t>The </a:t>
            </a:r>
            <a:r>
              <a:rPr lang="en-US" sz="1400" b="1" i="0" u="none" strike="noStrike" cap="none" dirty="0">
                <a:solidFill>
                  <a:srgbClr val="000000"/>
                </a:solidFill>
                <a:latin typeface="Arial"/>
                <a:ea typeface="Arial"/>
                <a:cs typeface="Arial"/>
                <a:sym typeface="Arial"/>
              </a:rPr>
              <a:t>Challenge</a:t>
            </a:r>
            <a:r>
              <a:rPr lang="en-US" sz="1400" b="0" i="0" u="none" strike="noStrike" cap="none" dirty="0">
                <a:solidFill>
                  <a:srgbClr val="000000"/>
                </a:solidFill>
                <a:latin typeface="Arial"/>
                <a:ea typeface="Arial"/>
                <a:cs typeface="Arial"/>
                <a:sym typeface="Arial"/>
              </a:rPr>
              <a:t> </a:t>
            </a:r>
            <a:r>
              <a:rPr lang="en-US" sz="1400" b="0" i="0" u="none" strike="noStrike" cap="none" dirty="0" smtClean="0">
                <a:solidFill>
                  <a:srgbClr val="000000"/>
                </a:solidFill>
                <a:latin typeface="Arial"/>
                <a:ea typeface="Arial"/>
                <a:cs typeface="Arial"/>
                <a:sym typeface="Arial"/>
              </a:rPr>
              <a:t>-</a:t>
            </a:r>
            <a:endParaRPr dirty="0"/>
          </a:p>
          <a:p>
            <a:r>
              <a:rPr lang="en-US" dirty="0"/>
              <a:t>The </a:t>
            </a:r>
            <a:r>
              <a:rPr lang="en-US" b="1" dirty="0"/>
              <a:t>National Social Assistance </a:t>
            </a:r>
            <a:r>
              <a:rPr lang="en-US" b="1" dirty="0" err="1"/>
              <a:t>Programme</a:t>
            </a:r>
            <a:r>
              <a:rPr lang="en-US" b="1" dirty="0"/>
              <a:t> (NSAP)</a:t>
            </a:r>
            <a:r>
              <a:rPr lang="en-US" dirty="0"/>
              <a:t> provides financial assistance to elderly citizens, widows, persons with disabilities, and economically weaker sections through multiple welfare schemes. However, identifying the most appropriate scheme based on beneficiary demographic data can be a </a:t>
            </a:r>
            <a:r>
              <a:rPr lang="en-US" b="1" dirty="0"/>
              <a:t>time-consuming and error-prone process</a:t>
            </a:r>
            <a:r>
              <a:rPr lang="en-US" dirty="0"/>
              <a:t>.</a:t>
            </a:r>
          </a:p>
          <a:p>
            <a:r>
              <a:rPr lang="en-US" dirty="0"/>
              <a:t>Government officials often rely on manual analysis of population statistics and beneficiary records, which may lead to incorrect recommendations, delayed processing, and inefficient resource allocation. Without an </a:t>
            </a:r>
            <a:r>
              <a:rPr lang="en-US" b="1" dirty="0"/>
              <a:t>intelligent, data-driven decision support system</a:t>
            </a:r>
            <a:r>
              <a:rPr lang="en-US" dirty="0"/>
              <a:t>, selecting the right welfare scheme becomes difficult, especially when dealing with large datasets.</a:t>
            </a:r>
          </a:p>
          <a:p>
            <a:pPr marL="0" marR="0" lvl="0" indent="0" algn="l" rtl="0">
              <a:lnSpc>
                <a:spcPct val="100000"/>
              </a:lnSpc>
              <a:spcBef>
                <a:spcPts val="0"/>
              </a:spcBef>
              <a:spcAft>
                <a:spcPts val="0"/>
              </a:spcAft>
              <a:buNone/>
            </a:pPr>
            <a:endParaRPr lang="en-US" sz="1400" b="1" i="0" u="none" strike="noStrike" cap="none" dirty="0" smtClean="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smtClean="0">
                <a:solidFill>
                  <a:srgbClr val="000000"/>
                </a:solidFill>
                <a:latin typeface="Arial"/>
                <a:ea typeface="Arial"/>
                <a:cs typeface="Arial"/>
                <a:sym typeface="Arial"/>
              </a:rPr>
              <a:t>The </a:t>
            </a:r>
            <a:r>
              <a:rPr lang="en-US" sz="1400" b="1" i="0" u="none" strike="noStrike" cap="none" dirty="0">
                <a:solidFill>
                  <a:srgbClr val="000000"/>
                </a:solidFill>
                <a:latin typeface="Arial"/>
                <a:ea typeface="Arial"/>
                <a:cs typeface="Arial"/>
                <a:sym typeface="Arial"/>
              </a:rPr>
              <a:t>Objective</a:t>
            </a:r>
            <a:r>
              <a:rPr lang="en-US" sz="1400" b="0" i="0" u="none" strike="noStrike" cap="none" dirty="0">
                <a:solidFill>
                  <a:srgbClr val="000000"/>
                </a:solidFill>
                <a:latin typeface="Arial"/>
                <a:ea typeface="Arial"/>
                <a:cs typeface="Arial"/>
                <a:sym typeface="Arial"/>
              </a:rPr>
              <a:t> </a:t>
            </a:r>
            <a:r>
              <a:rPr lang="en-US" sz="1400" b="0" i="0" u="none" strike="noStrike" cap="none" dirty="0" smtClean="0">
                <a:solidFill>
                  <a:srgbClr val="000000"/>
                </a:solidFill>
                <a:latin typeface="Arial"/>
                <a:ea typeface="Arial"/>
                <a:cs typeface="Arial"/>
                <a:sym typeface="Arial"/>
              </a:rPr>
              <a:t>-</a:t>
            </a:r>
            <a:endParaRPr dirty="0"/>
          </a:p>
          <a:p>
            <a:r>
              <a:rPr lang="en-US" dirty="0"/>
              <a:t>Build an </a:t>
            </a:r>
            <a:r>
              <a:rPr lang="en-US" b="1" dirty="0"/>
              <a:t>AI-powered NSAP Scheme Predictor</a:t>
            </a:r>
            <a:r>
              <a:rPr lang="en-US" dirty="0"/>
              <a:t> that delivers </a:t>
            </a:r>
            <a:r>
              <a:rPr lang="en-US" b="1" dirty="0"/>
              <a:t>accurate and real-time welfare scheme predictions</a:t>
            </a:r>
            <a:r>
              <a:rPr lang="en-US" dirty="0"/>
              <a:t> using demographic information. The solution should:</a:t>
            </a:r>
          </a:p>
          <a:p>
            <a:r>
              <a:rPr lang="en-US" b="1" dirty="0"/>
              <a:t>Beneficiary Data Analysis</a:t>
            </a:r>
            <a:r>
              <a:rPr lang="en-US" dirty="0"/>
              <a:t> – Analyze demographic inputs such as Total Male, Total Female, Scheduled Caste (SC), and Scheduled Tribe (ST) population. </a:t>
            </a:r>
          </a:p>
          <a:p>
            <a:r>
              <a:rPr lang="en-US" b="1" dirty="0"/>
              <a:t>AI-Based Prediction</a:t>
            </a:r>
            <a:r>
              <a:rPr lang="en-US" dirty="0"/>
              <a:t> – Utilize an IBM Watson Machine Learning model to predict the most suitable NSAP welfare scheme. </a:t>
            </a:r>
          </a:p>
          <a:p>
            <a:r>
              <a:rPr lang="en-US" b="1" dirty="0"/>
              <a:t>Real-Time Decision Support</a:t>
            </a:r>
            <a:r>
              <a:rPr lang="en-US" dirty="0"/>
              <a:t> – Provide instant predictions through a simple and interactive web interface. </a:t>
            </a:r>
          </a:p>
          <a:p>
            <a:r>
              <a:rPr lang="en-US" b="1" dirty="0"/>
              <a:t>Secure Cloud Integration</a:t>
            </a:r>
            <a:r>
              <a:rPr lang="en-US" dirty="0"/>
              <a:t> – Authenticate securely with IBM Cloud IAM and communicate with IBM Watson Machine Learning using REST APIs. </a:t>
            </a:r>
          </a:p>
          <a:p>
            <a:r>
              <a:rPr lang="en-US" b="1" dirty="0"/>
              <a:t>Automated Recommendation System</a:t>
            </a:r>
            <a:r>
              <a:rPr lang="en-US" dirty="0"/>
              <a:t> – Reduce manual effort by automatically identifying the appropriate welfare scheme based on trained machine learning models. </a:t>
            </a:r>
          </a:p>
          <a:p>
            <a:r>
              <a:rPr lang="en-US" b="1" dirty="0"/>
              <a:t>Scalable Architecture</a:t>
            </a:r>
            <a:r>
              <a:rPr lang="en-US" dirty="0"/>
              <a:t> – Support future integration with additional demographic, economic, and social parameters to improve prediction accuracy. </a:t>
            </a:r>
          </a:p>
          <a:p>
            <a:r>
              <a:rPr lang="en-US" b="1" dirty="0"/>
              <a:t>User-Friendly Interface</a:t>
            </a:r>
            <a:r>
              <a:rPr lang="en-US" dirty="0"/>
              <a:t> – Enable government officials and administrators to easily enter beneficiary data and receive predictions without requiring technical expertise. </a:t>
            </a:r>
          </a:p>
          <a:p>
            <a:r>
              <a:rPr lang="en-US" b="1" dirty="0"/>
              <a:t>Fast &amp; Reliable Predictions</a:t>
            </a:r>
            <a:r>
              <a:rPr lang="en-US" dirty="0"/>
              <a:t> – Improve efficiency in welfare scheme identification, reducing processing time and enhancing decision-making.</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473255"/>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Problem Statement -</a:t>
            </a:r>
            <a:endParaRPr sz="2400" b="1"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826493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1090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600" b="1" i="0" u="none" strike="noStrike" cap="none" dirty="0">
              <a:solidFill>
                <a:srgbClr val="000000"/>
              </a:solidFill>
              <a:sym typeface="Arial"/>
            </a:endParaRPr>
          </a:p>
          <a:p>
            <a:pPr lvl="0"/>
            <a:r>
              <a:rPr lang="en-US" sz="1600" b="1" i="0" u="none" strike="noStrike" cap="none" dirty="0">
                <a:solidFill>
                  <a:srgbClr val="000000"/>
                </a:solidFill>
                <a:sym typeface="Arial"/>
              </a:rPr>
              <a:t>Proposed Solution: </a:t>
            </a:r>
            <a:r>
              <a:rPr lang="en-IN" sz="1600" b="1" dirty="0"/>
              <a:t>AI-Driven NSAP Scheme </a:t>
            </a:r>
            <a:r>
              <a:rPr lang="en-IN" sz="1600" b="1" dirty="0" smtClean="0"/>
              <a:t>Predictor</a:t>
            </a:r>
          </a:p>
          <a:p>
            <a:pPr lvl="0"/>
            <a:endParaRPr lang="en-IN" b="1" dirty="0" smtClean="0"/>
          </a:p>
          <a:p>
            <a:r>
              <a:rPr lang="en-US" dirty="0"/>
              <a:t>The proposed solution is an </a:t>
            </a:r>
            <a:r>
              <a:rPr lang="en-US" b="1" dirty="0"/>
              <a:t>AI-powered NSAP Scheme Predictor</a:t>
            </a:r>
            <a:r>
              <a:rPr lang="en-US" dirty="0"/>
              <a:t> developed using </a:t>
            </a:r>
            <a:r>
              <a:rPr lang="en-US" b="1" dirty="0"/>
              <a:t>IBM Watson Machine Learning, IBM Cloud, Node.js, Express.js, HTML, CSS, and JavaScript</a:t>
            </a:r>
            <a:r>
              <a:rPr lang="en-US" dirty="0"/>
              <a:t>. The application predicts the most suitable </a:t>
            </a:r>
            <a:r>
              <a:rPr lang="en-US" b="1" dirty="0"/>
              <a:t>National Social Assistance </a:t>
            </a:r>
            <a:r>
              <a:rPr lang="en-US" b="1" dirty="0" err="1"/>
              <a:t>Programme</a:t>
            </a:r>
            <a:r>
              <a:rPr lang="en-US" b="1" dirty="0"/>
              <a:t> (NSAP)</a:t>
            </a:r>
            <a:r>
              <a:rPr lang="en-US" dirty="0"/>
              <a:t> scheme based on demographic inputs such as </a:t>
            </a:r>
            <a:r>
              <a:rPr lang="en-US" b="1" dirty="0"/>
              <a:t>Total Male, Total Female, Scheduled Caste (SC), and Scheduled Tribe (ST)</a:t>
            </a:r>
            <a:r>
              <a:rPr lang="en-US" dirty="0"/>
              <a:t> population.</a:t>
            </a:r>
          </a:p>
          <a:p>
            <a:r>
              <a:rPr lang="en-US" dirty="0"/>
              <a:t>The system securely communicates with a deployed </a:t>
            </a:r>
            <a:r>
              <a:rPr lang="en-US" b="1" dirty="0"/>
              <a:t>IBM Watson Machine Learning model</a:t>
            </a:r>
            <a:r>
              <a:rPr lang="en-US" dirty="0"/>
              <a:t> through REST APIs, where the trained model analyzes the input data and returns the predicted welfare scheme in real time.</a:t>
            </a:r>
          </a:p>
          <a:p>
            <a:r>
              <a:rPr lang="en-US" dirty="0"/>
              <a:t>The system consists of four key modules:</a:t>
            </a:r>
          </a:p>
          <a:p>
            <a:r>
              <a:rPr lang="en-US" b="1" dirty="0"/>
              <a:t>User Input Module</a:t>
            </a:r>
            <a:r>
              <a:rPr lang="en-US" dirty="0"/>
              <a:t> allows users to enter beneficiary demographic details through a simple and interactive web interface.</a:t>
            </a:r>
          </a:p>
          <a:p>
            <a:r>
              <a:rPr lang="en-US" b="1" dirty="0"/>
              <a:t>Backend Processing Module</a:t>
            </a:r>
            <a:r>
              <a:rPr lang="en-US" dirty="0"/>
              <a:t> validates the input, authenticates securely with </a:t>
            </a:r>
            <a:r>
              <a:rPr lang="en-US" b="1" dirty="0"/>
              <a:t>IBM Cloud IAM</a:t>
            </a:r>
            <a:r>
              <a:rPr lang="en-US" dirty="0"/>
              <a:t>, and forwards prediction requests to the deployed machine learning model.</a:t>
            </a:r>
          </a:p>
          <a:p>
            <a:r>
              <a:rPr lang="en-US" b="1" dirty="0"/>
              <a:t>IBM Watson Machine Learning Model</a:t>
            </a:r>
            <a:r>
              <a:rPr lang="en-US" dirty="0"/>
              <a:t> processes the demographic data using a trained classification model and predicts the most suitable NSAP welfare scheme.</a:t>
            </a:r>
          </a:p>
          <a:p>
            <a:r>
              <a:rPr lang="en-US" b="1" dirty="0"/>
              <a:t>Prediction Display Module</a:t>
            </a:r>
            <a:r>
              <a:rPr lang="en-US" dirty="0"/>
              <a:t> receives the response from IBM Watson Machine Learning and instantly displays the predicted scheme to the user.</a:t>
            </a:r>
          </a:p>
          <a:p>
            <a:r>
              <a:rPr lang="en-US" dirty="0"/>
              <a:t>The application features a </a:t>
            </a:r>
            <a:r>
              <a:rPr lang="en-US" b="1" dirty="0"/>
              <a:t>responsive and user-friendly interface</a:t>
            </a:r>
            <a:r>
              <a:rPr lang="en-US" dirty="0"/>
              <a:t>, ensuring a smooth experience across different devices. </a:t>
            </a:r>
            <a:r>
              <a:rPr lang="en-US" b="1" dirty="0"/>
              <a:t>IBM Cloud</a:t>
            </a:r>
            <a:r>
              <a:rPr lang="en-US" dirty="0"/>
              <a:t> provides secure and scalable model deployment, while </a:t>
            </a:r>
            <a:r>
              <a:rPr lang="en-US" b="1" dirty="0"/>
              <a:t>IBM Watson Machine Learning</a:t>
            </a:r>
            <a:r>
              <a:rPr lang="en-US" dirty="0"/>
              <a:t> enables accurate real-time predictions through cloud-based REST APIs.</a:t>
            </a:r>
          </a:p>
          <a:p>
            <a:r>
              <a:rPr lang="en-US" dirty="0"/>
              <a:t>Overall, this solution delivers an </a:t>
            </a:r>
            <a:r>
              <a:rPr lang="en-US" b="1" dirty="0"/>
              <a:t>end-to-end intelligent welfare scheme prediction system</a:t>
            </a:r>
            <a:r>
              <a:rPr lang="en-US" dirty="0"/>
              <a:t> that improves decision-making, reduces manual effort, increases prediction accuracy, and demonstrates the practical application of </a:t>
            </a:r>
            <a:r>
              <a:rPr lang="en-US" b="1" dirty="0"/>
              <a:t>Artificial Intelligence and Machine Learning</a:t>
            </a:r>
            <a:r>
              <a:rPr lang="en-US" dirty="0"/>
              <a:t> in government social welfare programs.</a:t>
            </a: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315599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5786199"/>
          </a:xfrm>
          <a:prstGeom prst="rect">
            <a:avLst/>
          </a:prstGeom>
          <a:noFill/>
        </p:spPr>
        <p:txBody>
          <a:bodyPr wrap="square" lIns="91440" tIns="45720" rIns="91440" bIns="45720" rtlCol="0" anchor="t">
            <a:spAutoFit/>
          </a:bodyPr>
          <a:lstStyle/>
          <a:p>
            <a:endParaRPr lang="en-US" sz="1800" dirty="0"/>
          </a:p>
          <a:p>
            <a:pPr marL="285750" indent="-285750">
              <a:buFont typeface="Arial" panose="020B0604020202020204" pitchFamily="34" charset="0"/>
              <a:buChar char="•"/>
            </a:pPr>
            <a:r>
              <a:rPr lang="en-US" sz="1800" b="1" dirty="0"/>
              <a:t>IBM watsonx.ai</a:t>
            </a:r>
            <a:r>
              <a:rPr lang="en-US" sz="1800" dirty="0"/>
              <a:t> – Used to build, deploy, and host the machine learning model for predicting the most suitable NSAP welfare scheme. </a:t>
            </a:r>
          </a:p>
          <a:p>
            <a:pPr marL="285750" indent="-285750">
              <a:buFont typeface="Arial" panose="020B0604020202020204" pitchFamily="34" charset="0"/>
              <a:buChar char="•"/>
            </a:pPr>
            <a:r>
              <a:rPr lang="en-US" sz="1800" b="1" dirty="0"/>
              <a:t>IBM Cloud</a:t>
            </a:r>
            <a:r>
              <a:rPr lang="en-US" sz="1800" dirty="0"/>
              <a:t> – Provides a secure cloud platform for deploying the AI model and managing authentication using IBM Cloud API Keys. </a:t>
            </a:r>
          </a:p>
          <a:p>
            <a:pPr marL="285750" indent="-285750">
              <a:buFont typeface="Arial" panose="020B0604020202020204" pitchFamily="34" charset="0"/>
              <a:buChar char="•"/>
            </a:pPr>
            <a:r>
              <a:rPr lang="en-US" sz="1800" b="1" dirty="0"/>
              <a:t>Node.js &amp; Express.js</a:t>
            </a:r>
            <a:r>
              <a:rPr lang="en-US" sz="1800" dirty="0"/>
              <a:t> – Used as the backend server to securely communicate between the frontend application and the deployed IBM watsonx.ai model. </a:t>
            </a:r>
          </a:p>
          <a:p>
            <a:pPr marL="285750" indent="-285750">
              <a:buFont typeface="Arial" panose="020B0604020202020204" pitchFamily="34" charset="0"/>
              <a:buChar char="•"/>
            </a:pPr>
            <a:r>
              <a:rPr lang="en-US" sz="1800" b="1" dirty="0"/>
              <a:t>HTML, CSS &amp; JavaScript</a:t>
            </a:r>
            <a:r>
              <a:rPr lang="en-US" sz="1800" dirty="0"/>
              <a:t> – Used to design a responsive and interactive web interface for collecting user inputs and displaying prediction results. </a:t>
            </a:r>
          </a:p>
          <a:p>
            <a:pPr marL="285750" indent="-285750">
              <a:buFont typeface="Arial" panose="020B0604020202020204" pitchFamily="34" charset="0"/>
              <a:buChar char="•"/>
            </a:pPr>
            <a:r>
              <a:rPr lang="en-US" sz="1800" b="1" dirty="0"/>
              <a:t>REST API (IBM Machine Learning Deployment API)</a:t>
            </a:r>
            <a:r>
              <a:rPr lang="en-US" sz="1800" dirty="0"/>
              <a:t> – Used to send beneficiary details to the deployed model and retrieve real-time predictions. </a:t>
            </a:r>
          </a:p>
          <a:p>
            <a:pPr marL="285750" indent="-285750">
              <a:buFont typeface="Arial" panose="020B0604020202020204" pitchFamily="34" charset="0"/>
              <a:buChar char="•"/>
            </a:pPr>
            <a:r>
              <a:rPr lang="en-US" sz="1800" b="1" dirty="0" err="1"/>
              <a:t>Git</a:t>
            </a:r>
            <a:r>
              <a:rPr lang="en-US" sz="1800" b="1" dirty="0"/>
              <a:t> &amp; </a:t>
            </a:r>
            <a:r>
              <a:rPr lang="en-US" sz="1800" b="1" dirty="0" err="1"/>
              <a:t>GitHub</a:t>
            </a:r>
            <a:r>
              <a:rPr lang="en-US" sz="1800" dirty="0"/>
              <a:t> – Used for version control, project management, and hosting the complete source code. </a:t>
            </a:r>
            <a:endParaRPr lang="en-US" sz="1800" dirty="0"/>
          </a:p>
          <a:p>
            <a:pPr marL="285750" indent="-285750">
              <a:buFont typeface="Arial" panose="020B0604020202020204" pitchFamily="34" charset="0"/>
              <a:buChar char="•"/>
            </a:pPr>
            <a:r>
              <a:rPr lang="en-US" sz="1800" b="1" dirty="0"/>
              <a:t>ML Algorithm/ Model Used</a:t>
            </a:r>
            <a:r>
              <a:rPr lang="en-US" sz="1800" dirty="0"/>
              <a:t>: </a:t>
            </a:r>
            <a:r>
              <a:rPr lang="en-IN" sz="1800" u="sng" dirty="0" smtClean="0"/>
              <a:t>IBM </a:t>
            </a:r>
            <a:r>
              <a:rPr lang="en-IN" sz="1800" u="sng" dirty="0" err="1"/>
              <a:t>AutoAI</a:t>
            </a:r>
            <a:r>
              <a:rPr lang="en-IN" sz="1800" u="sng" dirty="0"/>
              <a:t> Optimized Classification </a:t>
            </a:r>
            <a:r>
              <a:rPr lang="en-IN" sz="1800" u="sng" dirty="0" smtClean="0"/>
              <a:t>Model</a:t>
            </a:r>
            <a:endParaRPr lang="en-US" sz="1800" u="sng" dirty="0"/>
          </a:p>
          <a:p>
            <a:pPr marL="285750" indent="-285750">
              <a:buFont typeface="Arial" panose="020B0604020202020204" pitchFamily="34" charset="0"/>
              <a:buChar char="•"/>
            </a:pPr>
            <a:r>
              <a:rPr lang="en-US" sz="1800" b="1" dirty="0"/>
              <a:t>Accuracy Obtained: </a:t>
            </a:r>
            <a:r>
              <a:rPr lang="en-US" sz="1800" u="sng" dirty="0" smtClean="0"/>
              <a:t>98.9</a:t>
            </a:r>
            <a:endParaRPr lang="en-US" sz="1800" u="sng" dirty="0"/>
          </a:p>
          <a:p>
            <a:pPr marL="285750" indent="-285750">
              <a:buFont typeface="Arial" panose="020B0604020202020204" pitchFamily="34" charset="0"/>
              <a:buChar char="•"/>
            </a:pPr>
            <a:r>
              <a:rPr lang="en-US" sz="1800" b="1" dirty="0"/>
              <a:t>Enhancements and </a:t>
            </a:r>
            <a:r>
              <a:rPr lang="en-US" sz="1800" b="1" dirty="0" err="1"/>
              <a:t>Hyperparameter</a:t>
            </a:r>
            <a:r>
              <a:rPr lang="en-US" sz="1800" b="1" dirty="0"/>
              <a:t> tuning: </a:t>
            </a:r>
            <a:r>
              <a:rPr lang="en-IN" sz="1800" u="sng" dirty="0"/>
              <a:t>Performed automatically using IBM </a:t>
            </a:r>
            <a:r>
              <a:rPr lang="en-IN" sz="1800" u="sng" dirty="0" err="1"/>
              <a:t>AutoAI</a:t>
            </a:r>
            <a:r>
              <a:rPr lang="en-IN" sz="1800" u="sng" dirty="0"/>
              <a:t>, including data </a:t>
            </a:r>
            <a:r>
              <a:rPr lang="en-IN" sz="1800" u="sng" dirty="0" err="1"/>
              <a:t>preprocessing</a:t>
            </a:r>
            <a:r>
              <a:rPr lang="en-IN" sz="1800" u="sng" dirty="0"/>
              <a:t>, feature engineering, algorithm selection, </a:t>
            </a:r>
            <a:r>
              <a:rPr lang="en-IN" sz="1800" u="sng" dirty="0" err="1"/>
              <a:t>hyperparameter</a:t>
            </a:r>
            <a:r>
              <a:rPr lang="en-IN" sz="1800" u="sng" dirty="0"/>
              <a:t> optimization, and pipeline ranking.</a:t>
            </a:r>
            <a:endParaRPr lang="en-US" sz="1800" u="sng"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1028" name="Picture 4" descr="C:\Users\Manya Mishra\OneDrive\Pictures\Screenshots\Screenshot 2026-07-03 1018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990600"/>
            <a:ext cx="11298091" cy="4955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7170" name="Picture 2" descr="C:\Users\Manya Mishra\OneDrive\Pictures\Screenshots\Screenshot 2026-07-03 1017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066800"/>
            <a:ext cx="11430000" cy="5085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6070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p:txBody>
          <a:bodyPr/>
          <a:lstStyle/>
          <a:p>
            <a:endParaRPr lang="en-IN"/>
          </a:p>
        </p:txBody>
      </p:sp>
      <p:pic>
        <p:nvPicPr>
          <p:cNvPr id="8194" name="Picture 2" descr="C:\Users\Manya Mishra\OneDrive\Pictures\Screenshots\Screenshot 2026-07-03 10173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52400"/>
            <a:ext cx="12115800"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4011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Calibri"/>
                <a:ea typeface="Calibri"/>
                <a:cs typeface="Calibri"/>
              </a:rPr>
              <a:t>Best Model Screenshot:</a:t>
            </a:r>
          </a:p>
        </p:txBody>
      </p:sp>
      <p:pic>
        <p:nvPicPr>
          <p:cNvPr id="2051" name="Picture 3" descr="C:\Users\Manya Mishra\Downloads\Screenshot 2026-06-26 19164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25" y="838200"/>
            <a:ext cx="11995150" cy="487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Testing Screenshot:</a:t>
            </a:r>
          </a:p>
        </p:txBody>
      </p:sp>
      <p:pic>
        <p:nvPicPr>
          <p:cNvPr id="3074" name="Picture 2" descr="C:\Users\Manya Mishra\OneDrive\Pictures\Screenshots\Screenshot 2026-07-03 10364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143000"/>
            <a:ext cx="11201399" cy="5011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656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Calibri"/>
              </a:rPr>
              <a:t>Testing Screenshot:</a:t>
            </a:r>
            <a:endParaRPr lang="en-US" dirty="0"/>
          </a:p>
          <a:p>
            <a:pPr algn="ct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09" y="1295400"/>
            <a:ext cx="10729491"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129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dirty="0">
                <a:solidFill>
                  <a:schemeClr val="dk1"/>
                </a:solidFill>
                <a:latin typeface="Calibri"/>
                <a:ea typeface="Calibri"/>
                <a:cs typeface="Calibri"/>
                <a:sym typeface="Calibri"/>
              </a:rPr>
              <a:t>Architecture blueprint</a:t>
            </a:r>
            <a:endParaRPr sz="2400" b="0" i="0" u="none" strike="noStrike" cap="none" dirty="0">
              <a:solidFill>
                <a:srgbClr val="000000"/>
              </a:solidFill>
              <a:latin typeface="Arial"/>
              <a:ea typeface="Arial"/>
              <a:cs typeface="Arial"/>
              <a:sym typeface="Arial"/>
            </a:endParaRPr>
          </a:p>
        </p:txBody>
      </p:sp>
      <p:pic>
        <p:nvPicPr>
          <p:cNvPr id="132" name="Google Shape;132;p7"/>
          <p:cNvPicPr preferRelativeResize="0"/>
          <p:nvPr/>
        </p:nvPicPr>
        <p:blipFill>
          <a:blip r:embed="rId3">
            <a:extLst>
              <a:ext uri="{28A0092B-C50C-407E-A947-70E740481C1C}">
                <a14:useLocalDpi xmlns:a14="http://schemas.microsoft.com/office/drawing/2010/main" val="0"/>
              </a:ext>
            </a:extLst>
          </a:blip>
          <a:stretch>
            <a:fillRect/>
          </a:stretch>
        </p:blipFill>
        <p:spPr>
          <a:xfrm>
            <a:off x="1633326" y="675732"/>
            <a:ext cx="9272587" cy="6181725"/>
          </a:xfrm>
          <a:prstGeom prst="rect">
            <a:avLst/>
          </a:prstGeom>
          <a:noFill/>
          <a:ln>
            <a:noFill/>
          </a:ln>
        </p:spPr>
      </p:pic>
    </p:spTree>
    <p:extLst>
      <p:ext uri="{BB962C8B-B14F-4D97-AF65-F5344CB8AC3E}">
        <p14:creationId xmlns:p14="http://schemas.microsoft.com/office/powerpoint/2010/main" val="1275513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0"/>
            <a:ext cx="10515600" cy="752475"/>
          </a:xfrm>
        </p:spPr>
        <p:txBody>
          <a:bodyPr>
            <a:normAutofit/>
          </a:bodyPr>
          <a:lstStyle/>
          <a:p>
            <a:r>
              <a:rPr lang="en-IN" sz="2400" b="1" dirty="0" smtClean="0">
                <a:latin typeface="Calibri" pitchFamily="34" charset="0"/>
                <a:ea typeface="Calibri" pitchFamily="34" charset="0"/>
                <a:cs typeface="Calibri" pitchFamily="34" charset="0"/>
              </a:rPr>
              <a:t>IBM BOB</a:t>
            </a:r>
            <a:endParaRPr lang="en-IN" sz="2400" b="1" dirty="0">
              <a:latin typeface="Calibri" pitchFamily="34" charset="0"/>
              <a:ea typeface="Calibri" pitchFamily="34" charset="0"/>
              <a:cs typeface="Calibri" pitchFamily="34"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676401"/>
            <a:ext cx="38100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5" name="Picture 5" descr="C:\Users\Manya Mishra\Downloads\Screenshot 2026-07-08 12053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676401"/>
            <a:ext cx="6553200"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1242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10515600" cy="1057275"/>
          </a:xfrm>
        </p:spPr>
        <p:txBody>
          <a:bodyPr>
            <a:normAutofit/>
          </a:bodyPr>
          <a:lstStyle/>
          <a:p>
            <a:r>
              <a:rPr lang="en-IN" sz="2400" dirty="0" smtClean="0"/>
              <a:t>HOMEPAGE</a:t>
            </a:r>
            <a:endParaRPr lang="en-IN" sz="2400" dirty="0"/>
          </a:p>
        </p:txBody>
      </p:sp>
      <p:pic>
        <p:nvPicPr>
          <p:cNvPr id="11266" name="Picture 2" descr="C:\Users\Manya Mishra\OneDrive\Pictures\Screenshots\Screenshot 2026-07-03 11574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29039"/>
            <a:ext cx="4737100" cy="6628961"/>
          </a:xfrm>
          <a:prstGeom prst="rect">
            <a:avLst/>
          </a:prstGeom>
          <a:noFill/>
          <a:extLst>
            <a:ext uri="{909E8E84-426E-40DD-AFC4-6F175D3DCCD1}">
              <a14:hiddenFill xmlns:a14="http://schemas.microsoft.com/office/drawing/2010/main">
                <a:solidFill>
                  <a:srgbClr val="FFFFFF"/>
                </a:solidFill>
              </a14:hiddenFill>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0" y="229039"/>
            <a:ext cx="4157864" cy="6552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60698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xmlns="" id="{ED65F54F-855A-0DB6-09A6-3212C5F7405B}"/>
              </a:ext>
            </a:extLst>
          </p:cNvPr>
          <p:cNvSpPr txBox="1"/>
          <p:nvPr/>
        </p:nvSpPr>
        <p:spPr>
          <a:xfrm>
            <a:off x="777240" y="1207008"/>
            <a:ext cx="10769628" cy="3416320"/>
          </a:xfrm>
          <a:prstGeom prst="rect">
            <a:avLst/>
          </a:prstGeom>
          <a:noFill/>
        </p:spPr>
        <p:txBody>
          <a:bodyPr wrap="square" lIns="91440" tIns="45720" rIns="91440" bIns="45720" rtlCol="0" anchor="t">
            <a:spAutoFit/>
          </a:bodyPr>
          <a:lstStyle/>
          <a:p>
            <a:pPr marL="285750" indent="-285750">
              <a:buChar char="•"/>
            </a:pPr>
            <a:r>
              <a:rPr lang="en-US" sz="1800" dirty="0"/>
              <a:t>The solution </a:t>
            </a:r>
            <a:r>
              <a:rPr lang="en-US" sz="1800" b="1" dirty="0"/>
              <a:t>automates NSAP scheme prediction</a:t>
            </a:r>
            <a:r>
              <a:rPr lang="en-US" sz="1800" dirty="0"/>
              <a:t>, reducing manual verification efforts and processing time. </a:t>
            </a:r>
            <a:endParaRPr lang="en-US" sz="1800" dirty="0" smtClean="0"/>
          </a:p>
          <a:p>
            <a:pPr marL="285750" indent="-285750">
              <a:buChar char="•"/>
            </a:pPr>
            <a:r>
              <a:rPr lang="en-US" sz="1800" dirty="0" smtClean="0"/>
              <a:t>It </a:t>
            </a:r>
            <a:r>
              <a:rPr lang="en-US" sz="1800" dirty="0"/>
              <a:t>leverages </a:t>
            </a:r>
            <a:r>
              <a:rPr lang="en-US" sz="1800" b="1" dirty="0"/>
              <a:t>IBM watsonx.ai </a:t>
            </a:r>
            <a:r>
              <a:rPr lang="en-US" sz="1800" b="1" dirty="0" err="1"/>
              <a:t>AutoAI</a:t>
            </a:r>
            <a:r>
              <a:rPr lang="en-US" sz="1800" dirty="0"/>
              <a:t> to automatically identify and deploy the best-performing machine learning model with minimal manual coding</a:t>
            </a:r>
            <a:r>
              <a:rPr lang="en-US" sz="1800" dirty="0" smtClean="0"/>
              <a:t>.</a:t>
            </a:r>
          </a:p>
          <a:p>
            <a:pPr marL="285750" indent="-285750">
              <a:buChar char="•"/>
            </a:pPr>
            <a:r>
              <a:rPr lang="en-US" sz="1800" dirty="0" smtClean="0"/>
              <a:t>The </a:t>
            </a:r>
            <a:r>
              <a:rPr lang="en-US" sz="1800" dirty="0"/>
              <a:t>system accurately classifies beneficiaries into appropriate </a:t>
            </a:r>
            <a:r>
              <a:rPr lang="en-US" sz="1800" b="1" dirty="0"/>
              <a:t>National Social Assistance </a:t>
            </a:r>
            <a:r>
              <a:rPr lang="en-US" sz="1800" b="1" dirty="0" err="1"/>
              <a:t>Programme</a:t>
            </a:r>
            <a:r>
              <a:rPr lang="en-US" sz="1800" b="1" dirty="0"/>
              <a:t> (NSAP)</a:t>
            </a:r>
            <a:r>
              <a:rPr lang="en-US" sz="1800" dirty="0"/>
              <a:t> schemes using demographic input data. </a:t>
            </a:r>
            <a:endParaRPr lang="en-US" sz="1800" dirty="0" smtClean="0"/>
          </a:p>
          <a:p>
            <a:pPr marL="285750" indent="-285750">
              <a:buChar char="•"/>
            </a:pPr>
            <a:r>
              <a:rPr lang="en-US" sz="1800" dirty="0" smtClean="0"/>
              <a:t>Automated </a:t>
            </a:r>
            <a:r>
              <a:rPr lang="en-US" sz="1800" b="1" dirty="0"/>
              <a:t>data preprocessing, feature engineering, and model optimization</a:t>
            </a:r>
            <a:r>
              <a:rPr lang="en-US" sz="1800" dirty="0"/>
              <a:t> improve prediction accuracy and uncover meaningful patterns in beneficiary data. </a:t>
            </a:r>
            <a:endParaRPr lang="en-US" sz="1800" dirty="0" smtClean="0"/>
          </a:p>
          <a:p>
            <a:pPr marL="285750" indent="-285750">
              <a:buChar char="•"/>
            </a:pPr>
            <a:r>
              <a:rPr lang="en-US" sz="1800" dirty="0" smtClean="0"/>
              <a:t>The </a:t>
            </a:r>
            <a:r>
              <a:rPr lang="en-US" sz="1800" dirty="0"/>
              <a:t>deployed AI model provides </a:t>
            </a:r>
            <a:r>
              <a:rPr lang="en-US" sz="1800" b="1" dirty="0"/>
              <a:t>real-time, consistent, and data-driven predictions</a:t>
            </a:r>
            <a:r>
              <a:rPr lang="en-US" sz="1800" dirty="0"/>
              <a:t>, reducing human error and improving transparency in welfare scheme selection. </a:t>
            </a:r>
            <a:endParaRPr lang="en-US" sz="1800" dirty="0" smtClean="0"/>
          </a:p>
          <a:p>
            <a:pPr marL="285750" indent="-285750">
              <a:buChar char="•"/>
            </a:pPr>
            <a:r>
              <a:rPr lang="en-US" sz="1800" dirty="0" smtClean="0"/>
              <a:t>The </a:t>
            </a:r>
            <a:r>
              <a:rPr lang="en-US" sz="1800" dirty="0"/>
              <a:t>solution is deployed as a </a:t>
            </a:r>
            <a:r>
              <a:rPr lang="en-US" sz="1800" b="1" dirty="0"/>
              <a:t>web-based application</a:t>
            </a:r>
            <a:r>
              <a:rPr lang="en-US" sz="1800" dirty="0"/>
              <a:t>, making AI-powered government scheme prediction easily accessible through an intuitive user interface.</a:t>
            </a:r>
            <a:endParaRPr lang="en-IN" sz="1800" b="1" dirty="0"/>
          </a:p>
        </p:txBody>
      </p:sp>
    </p:spTree>
    <p:extLst>
      <p:ext uri="{BB962C8B-B14F-4D97-AF65-F5344CB8AC3E}">
        <p14:creationId xmlns:p14="http://schemas.microsoft.com/office/powerpoint/2010/main" val="9179641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xmlns=""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smtClean="0">
                <a:solidFill>
                  <a:srgbClr val="2B3541"/>
                </a:solidFill>
                <a:latin typeface="Times New Roman"/>
                <a:ea typeface="Times New Roman"/>
                <a:cs typeface="Times New Roman"/>
                <a:sym typeface="Times New Roman"/>
              </a:rPr>
              <a:t>Github</a:t>
            </a:r>
            <a:r>
              <a:rPr lang="en-US" sz="1850" dirty="0" smtClean="0">
                <a:solidFill>
                  <a:srgbClr val="2B3541"/>
                </a:solidFill>
                <a:latin typeface="Times New Roman"/>
                <a:ea typeface="Times New Roman"/>
                <a:cs typeface="Times New Roman"/>
                <a:sym typeface="Times New Roman"/>
              </a:rPr>
              <a:t> URL</a:t>
            </a:r>
            <a:r>
              <a:rPr lang="en-US" sz="1850" dirty="0" smtClean="0">
                <a:solidFill>
                  <a:srgbClr val="2B3541"/>
                </a:solidFill>
                <a:latin typeface="Times New Roman"/>
                <a:ea typeface="Times New Roman"/>
                <a:cs typeface="Times New Roman"/>
                <a:sym typeface="Times New Roman"/>
              </a:rPr>
              <a:t>–</a:t>
            </a:r>
            <a:r>
              <a:rPr lang="en-US" sz="1850" dirty="0" smtClean="0">
                <a:solidFill>
                  <a:srgbClr val="2B3541"/>
                </a:solidFill>
                <a:latin typeface="Times New Roman"/>
                <a:ea typeface="Times New Roman"/>
                <a:cs typeface="Times New Roman"/>
                <a:sym typeface="Times New Roman"/>
                <a:hlinkClick r:id="rId3"/>
              </a:rPr>
              <a:t>https://github.com/MANYA303/AI-Driven-NSAP-Scheme-Predictor</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676400"/>
            <a:ext cx="10058400" cy="497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58519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218724" y="1221715"/>
            <a:ext cx="9214580" cy="4950485"/>
          </a:xfrm>
          <a:prstGeom prst="rect">
            <a:avLst/>
          </a:prstGeom>
          <a:noFill/>
          <a:ln>
            <a:noFill/>
          </a:ln>
        </p:spPr>
        <p:txBody>
          <a:bodyPr spcFirstLastPara="1" wrap="square" lIns="0" tIns="0" rIns="0" bIns="0" anchor="t" anchorCtr="0">
            <a:noAutofit/>
          </a:bodyPr>
          <a:lstStyle/>
          <a:p>
            <a:pPr marL="342900" indent="-342900">
              <a:buFont typeface="Arial" pitchFamily="34" charset="0"/>
              <a:buChar char="•"/>
            </a:pPr>
            <a:r>
              <a:rPr lang="en-US" sz="2000" dirty="0"/>
              <a:t>Integrate the system with </a:t>
            </a:r>
            <a:r>
              <a:rPr lang="en-US" sz="2000" b="1" dirty="0"/>
              <a:t>government portals</a:t>
            </a:r>
            <a:r>
              <a:rPr lang="en-US" sz="2000" dirty="0"/>
              <a:t> to automate the end-to-end NSAP beneficiary verification and recommendation process. </a:t>
            </a:r>
            <a:endParaRPr lang="en-US" sz="2000" dirty="0" smtClean="0"/>
          </a:p>
          <a:p>
            <a:pPr marL="342900" indent="-342900">
              <a:buFont typeface="Arial" pitchFamily="34" charset="0"/>
              <a:buChar char="•"/>
            </a:pPr>
            <a:r>
              <a:rPr lang="en-US" sz="2000" dirty="0" smtClean="0"/>
              <a:t>Expand </a:t>
            </a:r>
            <a:r>
              <a:rPr lang="en-US" sz="2000" dirty="0"/>
              <a:t>the platform to support </a:t>
            </a:r>
            <a:r>
              <a:rPr lang="en-US" sz="2000" b="1" dirty="0"/>
              <a:t>additional government welfare schemes</a:t>
            </a:r>
            <a:r>
              <a:rPr lang="en-US" sz="2000" dirty="0"/>
              <a:t>, creating a unified AI-based social assistance recommendation system. </a:t>
            </a:r>
            <a:endParaRPr lang="en-US" sz="2000" dirty="0" smtClean="0"/>
          </a:p>
          <a:p>
            <a:pPr marL="342900" indent="-342900">
              <a:buFont typeface="Arial" pitchFamily="34" charset="0"/>
              <a:buChar char="•"/>
            </a:pPr>
            <a:r>
              <a:rPr lang="en-US" sz="2000" dirty="0" smtClean="0"/>
              <a:t>Enable </a:t>
            </a:r>
            <a:r>
              <a:rPr lang="en-US" sz="2000" b="1" dirty="0"/>
              <a:t>real-time integration</a:t>
            </a:r>
            <a:r>
              <a:rPr lang="en-US" sz="2000" dirty="0"/>
              <a:t> with </a:t>
            </a:r>
            <a:r>
              <a:rPr lang="en-US" sz="2000" dirty="0" err="1"/>
              <a:t>Aadhaar</a:t>
            </a:r>
            <a:r>
              <a:rPr lang="en-US" sz="2000" dirty="0"/>
              <a:t> and other government databases (subject to authorization and privacy regulations) to improve eligibility verification and reduce fraudulent claims. </a:t>
            </a:r>
            <a:endParaRPr lang="en-US" sz="2000" dirty="0" smtClean="0"/>
          </a:p>
          <a:p>
            <a:pPr marL="342900" indent="-342900">
              <a:buFont typeface="Arial" pitchFamily="34" charset="0"/>
              <a:buChar char="•"/>
            </a:pPr>
            <a:r>
              <a:rPr lang="en-US" sz="2000" dirty="0" smtClean="0"/>
              <a:t>Continuously </a:t>
            </a:r>
            <a:r>
              <a:rPr lang="en-US" sz="2000" dirty="0"/>
              <a:t>retrain and optimize the model using </a:t>
            </a:r>
            <a:r>
              <a:rPr lang="en-US" sz="2000" b="1" dirty="0"/>
              <a:t>IBM watsonx.ai </a:t>
            </a:r>
            <a:r>
              <a:rPr lang="en-US" sz="2000" b="1" dirty="0" err="1"/>
              <a:t>AutoAI</a:t>
            </a:r>
            <a:r>
              <a:rPr lang="en-US" sz="2000" dirty="0"/>
              <a:t> as new beneficiary data becomes available, improving prediction accuracy over time. </a:t>
            </a:r>
            <a:endParaRPr lang="en-US" sz="2000" dirty="0" smtClean="0"/>
          </a:p>
          <a:p>
            <a:pPr marL="342900" indent="-342900">
              <a:buFont typeface="Arial" pitchFamily="34" charset="0"/>
              <a:buChar char="•"/>
            </a:pPr>
            <a:r>
              <a:rPr lang="en-US" sz="2000" dirty="0" smtClean="0"/>
              <a:t>Develop </a:t>
            </a:r>
            <a:r>
              <a:rPr lang="en-US" sz="2000" b="1" dirty="0"/>
              <a:t>mobile and multilingual versions</a:t>
            </a:r>
            <a:r>
              <a:rPr lang="en-US" sz="2000" dirty="0"/>
              <a:t> of the application to increase accessibility for citizens and field officers across India. </a:t>
            </a:r>
            <a:endParaRPr lang="en-US" sz="2000" dirty="0" smtClean="0"/>
          </a:p>
          <a:p>
            <a:pPr marL="342900" indent="-342900">
              <a:buFont typeface="Arial" pitchFamily="34" charset="0"/>
              <a:buChar char="•"/>
            </a:pPr>
            <a:r>
              <a:rPr lang="en-US" sz="2000" dirty="0" smtClean="0"/>
              <a:t>Implement </a:t>
            </a:r>
            <a:r>
              <a:rPr lang="en-US" sz="2000" b="1" dirty="0"/>
              <a:t>analytics dashboards</a:t>
            </a:r>
            <a:r>
              <a:rPr lang="en-US" sz="2000" dirty="0"/>
              <a:t> for government officials to monitor beneficiary trends, scheme distribution, and overall program effectiveness. </a:t>
            </a:r>
            <a:endParaRPr lang="en-US" sz="2000" dirty="0" smtClean="0"/>
          </a:p>
          <a:p>
            <a:pPr marL="342900" indent="-342900">
              <a:buFont typeface="Arial" pitchFamily="34" charset="0"/>
              <a:buChar char="•"/>
            </a:pPr>
            <a:r>
              <a:rPr lang="en-US" sz="2000" dirty="0" smtClean="0"/>
              <a:t>Scale </a:t>
            </a:r>
            <a:r>
              <a:rPr lang="en-US" sz="2000" dirty="0"/>
              <a:t>the solution nationwide to support </a:t>
            </a:r>
            <a:r>
              <a:rPr lang="en-US" sz="2000" b="1" dirty="0"/>
              <a:t>transparent, efficient, and data-driven welfare distribution</a:t>
            </a:r>
            <a:r>
              <a:rPr lang="en-US" sz="2000" dirty="0"/>
              <a:t> across multiple social security programs.</a:t>
            </a:r>
            <a:endParaRPr lang="en-US" sz="1850" b="1" dirty="0">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smtClean="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smtClean="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smtClean="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
        <p:nvSpPr>
          <p:cNvPr id="3" name="TextBox 2">
            <a:extLst>
              <a:ext uri="{FF2B5EF4-FFF2-40B4-BE49-F238E27FC236}">
                <a16:creationId xmlns:a16="http://schemas.microsoft.com/office/drawing/2014/main" xmlns=""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xmlns="" id="{1C488599-1CDB-6479-4ED5-FDEEC38049D9}"/>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9725" y="1345164"/>
            <a:ext cx="7229475" cy="5496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90476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xmlns=""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8275" y="1200580"/>
            <a:ext cx="9312275" cy="5276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66107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848</Words>
  <Application>Microsoft Office PowerPoint</Application>
  <PresentationFormat>Custom</PresentationFormat>
  <Paragraphs>88</Paragraphs>
  <Slides>20</Slides>
  <Notes>13</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BOB</vt:lpstr>
      <vt:lpstr>HOMEPAGE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Manya Mishra</cp:lastModifiedBy>
  <cp:revision>7</cp:revision>
  <dcterms:created xsi:type="dcterms:W3CDTF">2025-07-08T05:06:56Z</dcterms:created>
  <dcterms:modified xsi:type="dcterms:W3CDTF">2026-07-08T06:51:32Z</dcterms:modified>
</cp:coreProperties>
</file>